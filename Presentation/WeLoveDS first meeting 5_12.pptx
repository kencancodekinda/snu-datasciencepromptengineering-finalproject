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Roboto Mono"/>
      <p:regular r:id="rId13"/>
      <p:bold r:id="rId14"/>
      <p:italic r:id="rId15"/>
      <p:boldItalic r:id="rId16"/>
    </p:embeddedFont>
    <p:embeddedFont>
      <p:font typeface="Cambria Math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935">
          <p15:clr>
            <a:srgbClr val="A4A3A4"/>
          </p15:clr>
        </p15:guide>
        <p15:guide id="4" pos="234">
          <p15:clr>
            <a:srgbClr val="A4A3A4"/>
          </p15:clr>
        </p15:guide>
        <p15:guide id="5" pos="529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hzx0P2VJQjG+SQ1GVUwJlmjE48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E5B1C0-A03B-44CA-9A80-4FF0C4052EAE}">
  <a:tblStyle styleId="{58E5B1C0-A03B-44CA-9A80-4FF0C4052EA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CECE7"/>
          </a:solidFill>
        </a:fill>
      </a:tcStyle>
    </a:wholeTbl>
    <a:band1H>
      <a:tcTxStyle/>
      <a:tcStyle>
        <a:fill>
          <a:solidFill>
            <a:srgbClr val="F8D6CC"/>
          </a:solidFill>
        </a:fill>
      </a:tcStyle>
    </a:band1H>
    <a:band2H>
      <a:tcTxStyle/>
    </a:band2H>
    <a:band1V>
      <a:tcTxStyle/>
      <a:tcStyle>
        <a:fill>
          <a:solidFill>
            <a:srgbClr val="F8D6CC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/>
    </a:neCell>
    <a:nwCell>
      <a:tcTxStyle/>
    </a:nwCell>
  </a:tblStyle>
  <a:tblStyle styleId="{780A7B2B-E541-4CD2-8C65-5857B2E8579F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935" orient="horz"/>
        <p:guide pos="234"/>
        <p:guide pos="52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obotoMono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Mono-italic.fntdata"/><Relationship Id="rId14" Type="http://schemas.openxmlformats.org/officeDocument/2006/relationships/font" Target="fonts/RobotoMono-bold.fntdata"/><Relationship Id="rId17" Type="http://schemas.openxmlformats.org/officeDocument/2006/relationships/font" Target="fonts/CambriaMath-regular.fntdata"/><Relationship Id="rId16" Type="http://schemas.openxmlformats.org/officeDocument/2006/relationships/font" Target="fonts/RobotoMon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The use of the term ‘non-internal’ is a deliberate one and is intended to include both external activities(licensing, R&amp;D contracts, outsourcing) and quasi-external activity (such as strategic alliances).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how the probability of an industry appearing in a province is affected by the number of related industries already pre- sent in it by constructing a network of industries, or ‘indus- try space’.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분자가 두 산업 간의 상관성을 나타낸다면, 분모는 각각의 산업 규모를 고려해서 "비교 가능한 값"으로 만들어 줌.즉, 산업 규모가 큰 경우(예: 전자제품 제조처럼 기업이 많음) 분자 값이 너무 커질 수 있으니 이를 조정해 줘.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observed number of firms operating in industry a in province i and the expected number of firms of that industry in that province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세번째 수식: 산업 알파와 근접성이 높은 산업 베타를 어느정도 갖고 있느냐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88" name="Google Shape;188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사용자 지정 레이아웃">
  <p:cSld name="2_사용자 지정 레이아웃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55"/>
          <p:cNvGrpSpPr/>
          <p:nvPr/>
        </p:nvGrpSpPr>
        <p:grpSpPr>
          <a:xfrm>
            <a:off x="10765743" y="5053263"/>
            <a:ext cx="1432255" cy="1804737"/>
            <a:chOff x="10765743" y="5053263"/>
            <a:chExt cx="1432255" cy="1804737"/>
          </a:xfrm>
        </p:grpSpPr>
        <p:sp>
          <p:nvSpPr>
            <p:cNvPr id="17" name="Google Shape;17;p55"/>
            <p:cNvSpPr/>
            <p:nvPr/>
          </p:nvSpPr>
          <p:spPr>
            <a:xfrm>
              <a:off x="10765743" y="6282000"/>
              <a:ext cx="1250740" cy="576000"/>
            </a:xfrm>
            <a:prstGeom prst="triangle">
              <a:avLst>
                <a:gd fmla="val 50000" name="adj"/>
              </a:avLst>
            </a:prstGeom>
            <a:solidFill>
              <a:srgbClr val="0F0F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" name="Google Shape;18;p55"/>
            <p:cNvSpPr/>
            <p:nvPr/>
          </p:nvSpPr>
          <p:spPr>
            <a:xfrm>
              <a:off x="11794556" y="5058000"/>
              <a:ext cx="398696" cy="1800000"/>
            </a:xfrm>
            <a:prstGeom prst="rect">
              <a:avLst/>
            </a:prstGeom>
            <a:solidFill>
              <a:srgbClr val="0F0F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" name="Google Shape;19;p55"/>
            <p:cNvSpPr/>
            <p:nvPr/>
          </p:nvSpPr>
          <p:spPr>
            <a:xfrm>
              <a:off x="10987671" y="5053263"/>
              <a:ext cx="806885" cy="180000"/>
            </a:xfrm>
            <a:prstGeom prst="rect">
              <a:avLst/>
            </a:prstGeom>
            <a:solidFill>
              <a:srgbClr val="B8BAB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0" name="Google Shape;20;p55"/>
            <p:cNvSpPr/>
            <p:nvPr/>
          </p:nvSpPr>
          <p:spPr>
            <a:xfrm>
              <a:off x="11794556" y="5053263"/>
              <a:ext cx="403442" cy="18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1" name="Google Shape;21;p55"/>
          <p:cNvGrpSpPr/>
          <p:nvPr/>
        </p:nvGrpSpPr>
        <p:grpSpPr>
          <a:xfrm>
            <a:off x="-1243044" y="242597"/>
            <a:ext cx="720000" cy="3987367"/>
            <a:chOff x="-1243044" y="242597"/>
            <a:chExt cx="720000" cy="3987367"/>
          </a:xfrm>
        </p:grpSpPr>
        <p:sp>
          <p:nvSpPr>
            <p:cNvPr id="22" name="Google Shape;22;p55"/>
            <p:cNvSpPr/>
            <p:nvPr/>
          </p:nvSpPr>
          <p:spPr>
            <a:xfrm>
              <a:off x="-1243044" y="242597"/>
              <a:ext cx="720000" cy="720000"/>
            </a:xfrm>
            <a:prstGeom prst="rect">
              <a:avLst/>
            </a:prstGeom>
            <a:solidFill>
              <a:srgbClr val="0F0F70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" name="Google Shape;23;p55"/>
            <p:cNvSpPr/>
            <p:nvPr/>
          </p:nvSpPr>
          <p:spPr>
            <a:xfrm>
              <a:off x="-1243044" y="1876281"/>
              <a:ext cx="720000" cy="720000"/>
            </a:xfrm>
            <a:prstGeom prst="rect">
              <a:avLst/>
            </a:prstGeom>
            <a:solidFill>
              <a:srgbClr val="666666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4" name="Google Shape;24;p55"/>
            <p:cNvSpPr/>
            <p:nvPr/>
          </p:nvSpPr>
          <p:spPr>
            <a:xfrm>
              <a:off x="-1243044" y="3509964"/>
              <a:ext cx="720000" cy="720000"/>
            </a:xfrm>
            <a:prstGeom prst="rect">
              <a:avLst/>
            </a:prstGeom>
            <a:solidFill>
              <a:srgbClr val="8A8D8F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5" name="Google Shape;25;p55"/>
            <p:cNvSpPr/>
            <p:nvPr/>
          </p:nvSpPr>
          <p:spPr>
            <a:xfrm>
              <a:off x="-1243044" y="1059439"/>
              <a:ext cx="720000" cy="720000"/>
            </a:xfrm>
            <a:prstGeom prst="rect">
              <a:avLst/>
            </a:prstGeom>
            <a:solidFill>
              <a:srgbClr val="DCDAB2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" name="Google Shape;26;p55"/>
            <p:cNvSpPr/>
            <p:nvPr/>
          </p:nvSpPr>
          <p:spPr>
            <a:xfrm>
              <a:off x="-1243044" y="2693123"/>
              <a:ext cx="720000" cy="720000"/>
            </a:xfrm>
            <a:prstGeom prst="rect">
              <a:avLst/>
            </a:prstGeom>
            <a:solidFill>
              <a:srgbClr val="8B6F4E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7" name="Google Shape;27;p55"/>
          <p:cNvSpPr txBox="1"/>
          <p:nvPr>
            <p:ph type="ctrTitle"/>
          </p:nvPr>
        </p:nvSpPr>
        <p:spPr>
          <a:xfrm>
            <a:off x="876300" y="2021313"/>
            <a:ext cx="10439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0F70"/>
              </a:buClr>
              <a:buSzPts val="7200"/>
              <a:buFont typeface="Calibri"/>
              <a:buNone/>
              <a:defRPr b="1" sz="7200">
                <a:solidFill>
                  <a:srgbClr val="0F0F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5"/>
          <p:cNvSpPr txBox="1"/>
          <p:nvPr>
            <p:ph idx="1" type="subTitle"/>
          </p:nvPr>
        </p:nvSpPr>
        <p:spPr>
          <a:xfrm>
            <a:off x="876300" y="4639112"/>
            <a:ext cx="10439400" cy="11136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B6F4E"/>
              </a:buClr>
              <a:buSzPts val="2000"/>
              <a:buNone/>
              <a:defRPr b="0" sz="2000">
                <a:solidFill>
                  <a:srgbClr val="8B6F4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55"/>
          <p:cNvSpPr txBox="1"/>
          <p:nvPr>
            <p:ph idx="2" type="body"/>
          </p:nvPr>
        </p:nvSpPr>
        <p:spPr>
          <a:xfrm>
            <a:off x="876300" y="981446"/>
            <a:ext cx="10439400" cy="809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A8D8F"/>
              </a:buClr>
              <a:buSzPts val="2000"/>
              <a:buNone/>
              <a:defRPr b="0" sz="2000">
                <a:solidFill>
                  <a:srgbClr val="8A8D8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0" name="Google Shape;30;p55"/>
          <p:cNvCxnSpPr/>
          <p:nvPr/>
        </p:nvCxnSpPr>
        <p:spPr>
          <a:xfrm>
            <a:off x="1146000" y="1906214"/>
            <a:ext cx="9900000" cy="0"/>
          </a:xfrm>
          <a:prstGeom prst="straightConnector1">
            <a:avLst/>
          </a:prstGeom>
          <a:noFill/>
          <a:ln cap="flat" cmpd="sng" w="19050">
            <a:solidFill>
              <a:srgbClr val="8A8D8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" name="Google Shape;31;p55"/>
          <p:cNvCxnSpPr/>
          <p:nvPr/>
        </p:nvCxnSpPr>
        <p:spPr>
          <a:xfrm>
            <a:off x="1146000" y="4524012"/>
            <a:ext cx="9900000" cy="0"/>
          </a:xfrm>
          <a:prstGeom prst="straightConnector1">
            <a:avLst/>
          </a:prstGeom>
          <a:noFill/>
          <a:ln cap="flat" cmpd="sng" w="19050">
            <a:solidFill>
              <a:srgbClr val="8A8D8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2" name="Google Shape;32;p55"/>
          <p:cNvGrpSpPr/>
          <p:nvPr/>
        </p:nvGrpSpPr>
        <p:grpSpPr>
          <a:xfrm>
            <a:off x="390525" y="6344699"/>
            <a:ext cx="1609726" cy="374401"/>
            <a:chOff x="2143124" y="3372713"/>
            <a:chExt cx="7922184" cy="1842595"/>
          </a:xfrm>
        </p:grpSpPr>
        <p:pic>
          <p:nvPicPr>
            <p:cNvPr id="33" name="Google Shape;33;p5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143124" y="3372713"/>
              <a:ext cx="1781175" cy="18425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Google Shape;34;p5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14825" y="3561464"/>
              <a:ext cx="5750483" cy="146509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사용자 지정 레이아웃">
  <p:cSld name="1_사용자 지정 레이아웃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6"/>
          <p:cNvSpPr txBox="1"/>
          <p:nvPr>
            <p:ph idx="12" type="sldNum"/>
          </p:nvPr>
        </p:nvSpPr>
        <p:spPr>
          <a:xfrm>
            <a:off x="905827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7" name="Google Shape;37;p56"/>
          <p:cNvGrpSpPr/>
          <p:nvPr/>
        </p:nvGrpSpPr>
        <p:grpSpPr>
          <a:xfrm>
            <a:off x="-1243044" y="242597"/>
            <a:ext cx="720000" cy="3987367"/>
            <a:chOff x="-1243044" y="242597"/>
            <a:chExt cx="720000" cy="3987367"/>
          </a:xfrm>
        </p:grpSpPr>
        <p:sp>
          <p:nvSpPr>
            <p:cNvPr id="38" name="Google Shape;38;p56"/>
            <p:cNvSpPr/>
            <p:nvPr/>
          </p:nvSpPr>
          <p:spPr>
            <a:xfrm>
              <a:off x="-1243044" y="242597"/>
              <a:ext cx="720000" cy="720000"/>
            </a:xfrm>
            <a:prstGeom prst="rect">
              <a:avLst/>
            </a:prstGeom>
            <a:solidFill>
              <a:srgbClr val="0F0F70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9" name="Google Shape;39;p56"/>
            <p:cNvSpPr/>
            <p:nvPr/>
          </p:nvSpPr>
          <p:spPr>
            <a:xfrm>
              <a:off x="-1243044" y="1876281"/>
              <a:ext cx="720000" cy="720000"/>
            </a:xfrm>
            <a:prstGeom prst="rect">
              <a:avLst/>
            </a:prstGeom>
            <a:solidFill>
              <a:srgbClr val="666666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0" name="Google Shape;40;p56"/>
            <p:cNvSpPr/>
            <p:nvPr/>
          </p:nvSpPr>
          <p:spPr>
            <a:xfrm>
              <a:off x="-1243044" y="3509964"/>
              <a:ext cx="720000" cy="720000"/>
            </a:xfrm>
            <a:prstGeom prst="rect">
              <a:avLst/>
            </a:prstGeom>
            <a:solidFill>
              <a:srgbClr val="8A8D8F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1" name="Google Shape;41;p56"/>
            <p:cNvSpPr/>
            <p:nvPr/>
          </p:nvSpPr>
          <p:spPr>
            <a:xfrm>
              <a:off x="-1243044" y="1059439"/>
              <a:ext cx="720000" cy="720000"/>
            </a:xfrm>
            <a:prstGeom prst="rect">
              <a:avLst/>
            </a:prstGeom>
            <a:solidFill>
              <a:srgbClr val="DCDAB2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2" name="Google Shape;42;p56"/>
            <p:cNvSpPr/>
            <p:nvPr/>
          </p:nvSpPr>
          <p:spPr>
            <a:xfrm>
              <a:off x="-1243044" y="2693123"/>
              <a:ext cx="720000" cy="720000"/>
            </a:xfrm>
            <a:prstGeom prst="rect">
              <a:avLst/>
            </a:prstGeom>
            <a:solidFill>
              <a:srgbClr val="8B6F4E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3" name="Google Shape;43;p56"/>
          <p:cNvSpPr txBox="1"/>
          <p:nvPr>
            <p:ph type="title"/>
          </p:nvPr>
        </p:nvSpPr>
        <p:spPr>
          <a:xfrm>
            <a:off x="390525" y="571856"/>
            <a:ext cx="10963275" cy="735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0F70"/>
              </a:buClr>
              <a:buSzPts val="3200"/>
              <a:buFont typeface="Calibri"/>
              <a:buNone/>
              <a:defRPr b="0" sz="3200">
                <a:solidFill>
                  <a:srgbClr val="0F0F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4" name="Google Shape;44;p56"/>
          <p:cNvGrpSpPr/>
          <p:nvPr/>
        </p:nvGrpSpPr>
        <p:grpSpPr>
          <a:xfrm>
            <a:off x="390525" y="6344699"/>
            <a:ext cx="1609726" cy="374401"/>
            <a:chOff x="2143124" y="3372713"/>
            <a:chExt cx="7922184" cy="1842595"/>
          </a:xfrm>
        </p:grpSpPr>
        <p:pic>
          <p:nvPicPr>
            <p:cNvPr id="45" name="Google Shape;45;p5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143124" y="3372713"/>
              <a:ext cx="1781175" cy="18425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Google Shape;46;p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14825" y="3561464"/>
              <a:ext cx="5750483" cy="1465092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7" name="Google Shape;47;p56"/>
          <p:cNvCxnSpPr/>
          <p:nvPr/>
        </p:nvCxnSpPr>
        <p:spPr>
          <a:xfrm>
            <a:off x="336000" y="6296711"/>
            <a:ext cx="11520000" cy="0"/>
          </a:xfrm>
          <a:prstGeom prst="straightConnector1">
            <a:avLst/>
          </a:prstGeom>
          <a:noFill/>
          <a:ln cap="flat" cmpd="sng" w="19050">
            <a:solidFill>
              <a:srgbClr val="E6E6E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" name="Google Shape;48;p56"/>
          <p:cNvCxnSpPr/>
          <p:nvPr/>
        </p:nvCxnSpPr>
        <p:spPr>
          <a:xfrm>
            <a:off x="336000" y="1307743"/>
            <a:ext cx="11856000" cy="0"/>
          </a:xfrm>
          <a:prstGeom prst="straightConnector1">
            <a:avLst/>
          </a:prstGeom>
          <a:noFill/>
          <a:ln cap="flat" cmpd="sng" w="19050">
            <a:solidFill>
              <a:srgbClr val="0F0F7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49" name="Google Shape;49;p56"/>
          <p:cNvGrpSpPr/>
          <p:nvPr/>
        </p:nvGrpSpPr>
        <p:grpSpPr>
          <a:xfrm>
            <a:off x="11155699" y="0"/>
            <a:ext cx="1036301" cy="1307743"/>
            <a:chOff x="10765742" y="5056577"/>
            <a:chExt cx="1427510" cy="1801423"/>
          </a:xfrm>
        </p:grpSpPr>
        <p:sp>
          <p:nvSpPr>
            <p:cNvPr id="50" name="Google Shape;50;p56"/>
            <p:cNvSpPr/>
            <p:nvPr/>
          </p:nvSpPr>
          <p:spPr>
            <a:xfrm>
              <a:off x="10765742" y="6282000"/>
              <a:ext cx="1250741" cy="576000"/>
            </a:xfrm>
            <a:prstGeom prst="triangle">
              <a:avLst>
                <a:gd fmla="val 50000" name="adj"/>
              </a:avLst>
            </a:prstGeom>
            <a:solidFill>
              <a:srgbClr val="0F0F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1" name="Google Shape;51;p56"/>
            <p:cNvSpPr/>
            <p:nvPr/>
          </p:nvSpPr>
          <p:spPr>
            <a:xfrm>
              <a:off x="11794556" y="5058000"/>
              <a:ext cx="398696" cy="1800000"/>
            </a:xfrm>
            <a:prstGeom prst="rect">
              <a:avLst/>
            </a:prstGeom>
            <a:solidFill>
              <a:srgbClr val="0F0F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" name="Google Shape;52;p56"/>
            <p:cNvSpPr/>
            <p:nvPr/>
          </p:nvSpPr>
          <p:spPr>
            <a:xfrm>
              <a:off x="10982919" y="5056577"/>
              <a:ext cx="806885" cy="180000"/>
            </a:xfrm>
            <a:prstGeom prst="rect">
              <a:avLst/>
            </a:prstGeom>
            <a:solidFill>
              <a:srgbClr val="B8BAB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" name="Google Shape;53;p56"/>
            <p:cNvSpPr/>
            <p:nvPr/>
          </p:nvSpPr>
          <p:spPr>
            <a:xfrm>
              <a:off x="11789809" y="5056577"/>
              <a:ext cx="403442" cy="18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사용자 지정 레이아웃">
  <p:cSld name="5_사용자 지정 레이아웃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7"/>
          <p:cNvSpPr txBox="1"/>
          <p:nvPr>
            <p:ph idx="12" type="sldNum"/>
          </p:nvPr>
        </p:nvSpPr>
        <p:spPr>
          <a:xfrm>
            <a:off x="905827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6" name="Google Shape;56;p57"/>
          <p:cNvGrpSpPr/>
          <p:nvPr/>
        </p:nvGrpSpPr>
        <p:grpSpPr>
          <a:xfrm>
            <a:off x="-1243044" y="242597"/>
            <a:ext cx="720000" cy="3987367"/>
            <a:chOff x="-1243044" y="242597"/>
            <a:chExt cx="720000" cy="3987367"/>
          </a:xfrm>
        </p:grpSpPr>
        <p:sp>
          <p:nvSpPr>
            <p:cNvPr id="57" name="Google Shape;57;p57"/>
            <p:cNvSpPr/>
            <p:nvPr/>
          </p:nvSpPr>
          <p:spPr>
            <a:xfrm>
              <a:off x="-1243044" y="242597"/>
              <a:ext cx="720000" cy="720000"/>
            </a:xfrm>
            <a:prstGeom prst="rect">
              <a:avLst/>
            </a:prstGeom>
            <a:solidFill>
              <a:srgbClr val="0F0F70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" name="Google Shape;58;p57"/>
            <p:cNvSpPr/>
            <p:nvPr/>
          </p:nvSpPr>
          <p:spPr>
            <a:xfrm>
              <a:off x="-1243044" y="1876281"/>
              <a:ext cx="720000" cy="720000"/>
            </a:xfrm>
            <a:prstGeom prst="rect">
              <a:avLst/>
            </a:prstGeom>
            <a:solidFill>
              <a:srgbClr val="666666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" name="Google Shape;59;p57"/>
            <p:cNvSpPr/>
            <p:nvPr/>
          </p:nvSpPr>
          <p:spPr>
            <a:xfrm>
              <a:off x="-1243044" y="3509964"/>
              <a:ext cx="720000" cy="720000"/>
            </a:xfrm>
            <a:prstGeom prst="rect">
              <a:avLst/>
            </a:prstGeom>
            <a:solidFill>
              <a:srgbClr val="8A8D8F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" name="Google Shape;60;p57"/>
            <p:cNvSpPr/>
            <p:nvPr/>
          </p:nvSpPr>
          <p:spPr>
            <a:xfrm>
              <a:off x="-1243044" y="1059439"/>
              <a:ext cx="720000" cy="720000"/>
            </a:xfrm>
            <a:prstGeom prst="rect">
              <a:avLst/>
            </a:prstGeom>
            <a:solidFill>
              <a:srgbClr val="DCDAB2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" name="Google Shape;61;p57"/>
            <p:cNvSpPr/>
            <p:nvPr/>
          </p:nvSpPr>
          <p:spPr>
            <a:xfrm>
              <a:off x="-1243044" y="2693123"/>
              <a:ext cx="720000" cy="720000"/>
            </a:xfrm>
            <a:prstGeom prst="rect">
              <a:avLst/>
            </a:prstGeom>
            <a:solidFill>
              <a:srgbClr val="8B6F4E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2" name="Google Shape;62;p57"/>
          <p:cNvSpPr txBox="1"/>
          <p:nvPr>
            <p:ph type="title"/>
          </p:nvPr>
        </p:nvSpPr>
        <p:spPr>
          <a:xfrm>
            <a:off x="390525" y="571856"/>
            <a:ext cx="10963275" cy="735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0F70"/>
              </a:buClr>
              <a:buSzPts val="3200"/>
              <a:buFont typeface="Calibri"/>
              <a:buNone/>
              <a:defRPr b="0" sz="3200">
                <a:solidFill>
                  <a:srgbClr val="0F0F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3" name="Google Shape;63;p57"/>
          <p:cNvGrpSpPr/>
          <p:nvPr/>
        </p:nvGrpSpPr>
        <p:grpSpPr>
          <a:xfrm>
            <a:off x="390525" y="6344699"/>
            <a:ext cx="1609726" cy="374401"/>
            <a:chOff x="2143124" y="3372713"/>
            <a:chExt cx="7922184" cy="1842595"/>
          </a:xfrm>
        </p:grpSpPr>
        <p:pic>
          <p:nvPicPr>
            <p:cNvPr id="64" name="Google Shape;64;p5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143124" y="3372713"/>
              <a:ext cx="1781175" cy="18425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14825" y="3561464"/>
              <a:ext cx="5750483" cy="1465092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66" name="Google Shape;66;p57"/>
          <p:cNvCxnSpPr/>
          <p:nvPr/>
        </p:nvCxnSpPr>
        <p:spPr>
          <a:xfrm>
            <a:off x="336000" y="1307743"/>
            <a:ext cx="11856000" cy="0"/>
          </a:xfrm>
          <a:prstGeom prst="straightConnector1">
            <a:avLst/>
          </a:prstGeom>
          <a:noFill/>
          <a:ln cap="flat" cmpd="sng" w="19050">
            <a:solidFill>
              <a:srgbClr val="0F0F7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7" name="Google Shape;67;p57"/>
          <p:cNvGrpSpPr/>
          <p:nvPr/>
        </p:nvGrpSpPr>
        <p:grpSpPr>
          <a:xfrm>
            <a:off x="11155699" y="0"/>
            <a:ext cx="1036301" cy="1307743"/>
            <a:chOff x="10765742" y="5056577"/>
            <a:chExt cx="1427510" cy="1801423"/>
          </a:xfrm>
        </p:grpSpPr>
        <p:sp>
          <p:nvSpPr>
            <p:cNvPr id="68" name="Google Shape;68;p57"/>
            <p:cNvSpPr/>
            <p:nvPr/>
          </p:nvSpPr>
          <p:spPr>
            <a:xfrm>
              <a:off x="10765742" y="6282000"/>
              <a:ext cx="1250741" cy="576000"/>
            </a:xfrm>
            <a:prstGeom prst="triangle">
              <a:avLst>
                <a:gd fmla="val 50000" name="adj"/>
              </a:avLst>
            </a:prstGeom>
            <a:solidFill>
              <a:srgbClr val="0F0F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" name="Google Shape;69;p57"/>
            <p:cNvSpPr/>
            <p:nvPr/>
          </p:nvSpPr>
          <p:spPr>
            <a:xfrm>
              <a:off x="11794556" y="5058000"/>
              <a:ext cx="398696" cy="1800000"/>
            </a:xfrm>
            <a:prstGeom prst="rect">
              <a:avLst/>
            </a:prstGeom>
            <a:solidFill>
              <a:srgbClr val="0F0F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" name="Google Shape;70;p57"/>
            <p:cNvSpPr/>
            <p:nvPr/>
          </p:nvSpPr>
          <p:spPr>
            <a:xfrm>
              <a:off x="10982919" y="5056577"/>
              <a:ext cx="806885" cy="180000"/>
            </a:xfrm>
            <a:prstGeom prst="rect">
              <a:avLst/>
            </a:prstGeom>
            <a:solidFill>
              <a:srgbClr val="B8BAB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" name="Google Shape;71;p57"/>
            <p:cNvSpPr/>
            <p:nvPr/>
          </p:nvSpPr>
          <p:spPr>
            <a:xfrm>
              <a:off x="11789809" y="5056577"/>
              <a:ext cx="403442" cy="18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사용자 지정 레이아웃">
  <p:cSld name="사용자 지정 레이아웃">
    <p:bg>
      <p:bgPr>
        <a:solidFill>
          <a:srgbClr val="0F0F70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8"/>
          <p:cNvSpPr txBox="1"/>
          <p:nvPr>
            <p:ph type="ctrTitle"/>
          </p:nvPr>
        </p:nvSpPr>
        <p:spPr>
          <a:xfrm>
            <a:off x="876300" y="2021313"/>
            <a:ext cx="10439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5400"/>
              <a:buFont typeface="Calibri"/>
              <a:buNone/>
              <a:defRPr b="1" sz="5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8"/>
          <p:cNvSpPr txBox="1"/>
          <p:nvPr>
            <p:ph idx="1" type="subTitle"/>
          </p:nvPr>
        </p:nvSpPr>
        <p:spPr>
          <a:xfrm>
            <a:off x="876300" y="4639112"/>
            <a:ext cx="10439400" cy="11136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CDAB2"/>
              </a:buClr>
              <a:buSzPts val="2000"/>
              <a:buNone/>
              <a:defRPr b="0" sz="2000">
                <a:solidFill>
                  <a:srgbClr val="DCDAB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5" name="Google Shape;75;p58"/>
          <p:cNvSpPr txBox="1"/>
          <p:nvPr>
            <p:ph idx="2" type="body"/>
          </p:nvPr>
        </p:nvSpPr>
        <p:spPr>
          <a:xfrm>
            <a:off x="876300" y="981446"/>
            <a:ext cx="10439400" cy="809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A8D8F"/>
              </a:buClr>
              <a:buSzPts val="2000"/>
              <a:buNone/>
              <a:defRPr b="0" sz="2000">
                <a:solidFill>
                  <a:srgbClr val="8A8D8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76" name="Google Shape;76;p58"/>
          <p:cNvCxnSpPr/>
          <p:nvPr/>
        </p:nvCxnSpPr>
        <p:spPr>
          <a:xfrm>
            <a:off x="1146000" y="1906214"/>
            <a:ext cx="9900000" cy="0"/>
          </a:xfrm>
          <a:prstGeom prst="straightConnector1">
            <a:avLst/>
          </a:prstGeom>
          <a:noFill/>
          <a:ln cap="flat" cmpd="sng" w="19050">
            <a:solidFill>
              <a:srgbClr val="B8BABC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" name="Google Shape;77;p58"/>
          <p:cNvCxnSpPr/>
          <p:nvPr/>
        </p:nvCxnSpPr>
        <p:spPr>
          <a:xfrm>
            <a:off x="1146000" y="4524012"/>
            <a:ext cx="9900000" cy="0"/>
          </a:xfrm>
          <a:prstGeom prst="straightConnector1">
            <a:avLst/>
          </a:prstGeom>
          <a:noFill/>
          <a:ln cap="flat" cmpd="sng" w="19050">
            <a:solidFill>
              <a:srgbClr val="B8BABC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8" name="Google Shape;78;p58"/>
          <p:cNvGrpSpPr/>
          <p:nvPr/>
        </p:nvGrpSpPr>
        <p:grpSpPr>
          <a:xfrm>
            <a:off x="-1243044" y="242597"/>
            <a:ext cx="720000" cy="3987367"/>
            <a:chOff x="-1243044" y="242597"/>
            <a:chExt cx="720000" cy="3987367"/>
          </a:xfrm>
        </p:grpSpPr>
        <p:sp>
          <p:nvSpPr>
            <p:cNvPr id="79" name="Google Shape;79;p58"/>
            <p:cNvSpPr/>
            <p:nvPr/>
          </p:nvSpPr>
          <p:spPr>
            <a:xfrm>
              <a:off x="-1243044" y="242597"/>
              <a:ext cx="720000" cy="720000"/>
            </a:xfrm>
            <a:prstGeom prst="rect">
              <a:avLst/>
            </a:prstGeom>
            <a:solidFill>
              <a:srgbClr val="0F0F70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0" name="Google Shape;80;p58"/>
            <p:cNvSpPr/>
            <p:nvPr/>
          </p:nvSpPr>
          <p:spPr>
            <a:xfrm>
              <a:off x="-1243044" y="1876281"/>
              <a:ext cx="720000" cy="720000"/>
            </a:xfrm>
            <a:prstGeom prst="rect">
              <a:avLst/>
            </a:prstGeom>
            <a:solidFill>
              <a:srgbClr val="666666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1" name="Google Shape;81;p58"/>
            <p:cNvSpPr/>
            <p:nvPr/>
          </p:nvSpPr>
          <p:spPr>
            <a:xfrm>
              <a:off x="-1243044" y="3509964"/>
              <a:ext cx="720000" cy="720000"/>
            </a:xfrm>
            <a:prstGeom prst="rect">
              <a:avLst/>
            </a:prstGeom>
            <a:solidFill>
              <a:srgbClr val="8A8D8F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2" name="Google Shape;82;p58"/>
            <p:cNvSpPr/>
            <p:nvPr/>
          </p:nvSpPr>
          <p:spPr>
            <a:xfrm>
              <a:off x="-1243044" y="1059439"/>
              <a:ext cx="720000" cy="720000"/>
            </a:xfrm>
            <a:prstGeom prst="rect">
              <a:avLst/>
            </a:prstGeom>
            <a:solidFill>
              <a:srgbClr val="DCDAB2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3" name="Google Shape;83;p58"/>
            <p:cNvSpPr/>
            <p:nvPr/>
          </p:nvSpPr>
          <p:spPr>
            <a:xfrm>
              <a:off x="-1243044" y="2693123"/>
              <a:ext cx="720000" cy="720000"/>
            </a:xfrm>
            <a:prstGeom prst="rect">
              <a:avLst/>
            </a:prstGeom>
            <a:solidFill>
              <a:srgbClr val="8B6F4E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84" name="Google Shape;84;p58"/>
          <p:cNvGrpSpPr/>
          <p:nvPr/>
        </p:nvGrpSpPr>
        <p:grpSpPr>
          <a:xfrm>
            <a:off x="390525" y="6344699"/>
            <a:ext cx="1609726" cy="374401"/>
            <a:chOff x="2143124" y="3372713"/>
            <a:chExt cx="7922184" cy="1842595"/>
          </a:xfrm>
        </p:grpSpPr>
        <p:pic>
          <p:nvPicPr>
            <p:cNvPr id="85" name="Google Shape;85;p5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143124" y="3372713"/>
              <a:ext cx="1781175" cy="18425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14825" y="3561464"/>
              <a:ext cx="5750483" cy="14650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7" name="Google Shape;87;p58"/>
          <p:cNvGrpSpPr/>
          <p:nvPr/>
        </p:nvGrpSpPr>
        <p:grpSpPr>
          <a:xfrm>
            <a:off x="10765744" y="5053263"/>
            <a:ext cx="1432255" cy="1804737"/>
            <a:chOff x="10387457" y="5053263"/>
            <a:chExt cx="1810543" cy="1804737"/>
          </a:xfrm>
        </p:grpSpPr>
        <p:sp>
          <p:nvSpPr>
            <p:cNvPr id="88" name="Google Shape;88;p58"/>
            <p:cNvSpPr/>
            <p:nvPr/>
          </p:nvSpPr>
          <p:spPr>
            <a:xfrm>
              <a:off x="10387457" y="6282000"/>
              <a:ext cx="1581086" cy="576000"/>
            </a:xfrm>
            <a:prstGeom prst="triangle">
              <a:avLst>
                <a:gd fmla="val 50000" name="adj"/>
              </a:avLst>
            </a:prstGeom>
            <a:solidFill>
              <a:srgbClr val="DCDA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9" name="Google Shape;89;p58"/>
            <p:cNvSpPr/>
            <p:nvPr/>
          </p:nvSpPr>
          <p:spPr>
            <a:xfrm>
              <a:off x="11688000" y="5058000"/>
              <a:ext cx="504000" cy="1800000"/>
            </a:xfrm>
            <a:prstGeom prst="rect">
              <a:avLst/>
            </a:prstGeom>
            <a:solidFill>
              <a:srgbClr val="DCDA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0" name="Google Shape;90;p58"/>
            <p:cNvSpPr/>
            <p:nvPr/>
          </p:nvSpPr>
          <p:spPr>
            <a:xfrm>
              <a:off x="10668001" y="5053263"/>
              <a:ext cx="1020000" cy="180000"/>
            </a:xfrm>
            <a:prstGeom prst="rect">
              <a:avLst/>
            </a:prstGeom>
            <a:solidFill>
              <a:srgbClr val="8A8D8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" name="Google Shape;91;p58"/>
            <p:cNvSpPr/>
            <p:nvPr/>
          </p:nvSpPr>
          <p:spPr>
            <a:xfrm>
              <a:off x="11688001" y="5053263"/>
              <a:ext cx="509999" cy="180000"/>
            </a:xfrm>
            <a:prstGeom prst="rect">
              <a:avLst/>
            </a:prstGeom>
            <a:solidFill>
              <a:srgbClr val="0F0F7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6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1" name="Google Shape;101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6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6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6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6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6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6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6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6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3" name="Google Shape;133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6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6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0" name="Google Shape;140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6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6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kenkim.notion.site/3424ba919756809daaa3ce7c7fb999fb?source=copy_link" TargetMode="External"/><Relationship Id="rId4" Type="http://schemas.openxmlformats.org/officeDocument/2006/relationships/hyperlink" Target="https://github.com/KenCanCodeKinda/SNU-DataSciencePromptEngineering-FinalProjec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8"/>
          <p:cNvSpPr txBox="1"/>
          <p:nvPr>
            <p:ph type="ctrTitle"/>
          </p:nvPr>
        </p:nvSpPr>
        <p:spPr>
          <a:xfrm>
            <a:off x="876300" y="2021313"/>
            <a:ext cx="10439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0F70"/>
              </a:buClr>
              <a:buSzPts val="4000"/>
              <a:buFont typeface="Calibri"/>
              <a:buNone/>
            </a:pP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First Project Status Update</a:t>
            </a:r>
            <a:endParaRPr/>
          </a:p>
        </p:txBody>
      </p:sp>
      <p:sp>
        <p:nvSpPr>
          <p:cNvPr id="160" name="Google Shape;160;p48"/>
          <p:cNvSpPr txBox="1"/>
          <p:nvPr>
            <p:ph idx="1" type="subTitle"/>
          </p:nvPr>
        </p:nvSpPr>
        <p:spPr>
          <a:xfrm>
            <a:off x="876300" y="4539937"/>
            <a:ext cx="10439400" cy="1677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Team 4 · WeLoveDS</a:t>
            </a:r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8"/>
          <p:cNvSpPr txBox="1"/>
          <p:nvPr/>
        </p:nvSpPr>
        <p:spPr>
          <a:xfrm>
            <a:off x="179428" y="229334"/>
            <a:ext cx="10235232" cy="444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B6F4E"/>
              </a:buClr>
              <a:buSzPct val="272727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Prompt Engineering / Context Engineering: from Interaction to Building Applications w LLM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B6F4E"/>
              </a:buClr>
              <a:buSzPct val="272727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B6F4E"/>
              </a:buClr>
              <a:buSzPct val="198347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2026.05.12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9"/>
          <p:cNvSpPr txBox="1"/>
          <p:nvPr>
            <p:ph idx="12" type="sldNum"/>
          </p:nvPr>
        </p:nvSpPr>
        <p:spPr>
          <a:xfrm>
            <a:off x="905827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49"/>
          <p:cNvSpPr txBox="1"/>
          <p:nvPr>
            <p:ph type="title"/>
          </p:nvPr>
        </p:nvSpPr>
        <p:spPr>
          <a:xfrm>
            <a:off x="390525" y="571856"/>
            <a:ext cx="10963275" cy="735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25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1. Introduction of Team Members</a:t>
            </a:r>
            <a:endParaRPr/>
          </a:p>
        </p:txBody>
      </p:sp>
      <p:graphicFrame>
        <p:nvGraphicFramePr>
          <p:cNvPr id="168" name="Google Shape;168;p49"/>
          <p:cNvGraphicFramePr/>
          <p:nvPr/>
        </p:nvGraphicFramePr>
        <p:xfrm>
          <a:off x="481485" y="14651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{58E5B1C0-A03B-44CA-9A80-4FF0C4052EAE}</a:tableStyleId>
              </a:tblPr>
              <a:tblGrid>
                <a:gridCol w="1886675"/>
                <a:gridCol w="1886675"/>
                <a:gridCol w="1886675"/>
                <a:gridCol w="1886675"/>
                <a:gridCol w="1886675"/>
                <a:gridCol w="1886675"/>
              </a:tblGrid>
              <a:tr h="280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Name</a:t>
                      </a:r>
                      <a:endParaRPr/>
                    </a:p>
                  </a:txBody>
                  <a:tcPr marT="42100" marB="42100" marR="84225" marL="842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Major</a:t>
                      </a:r>
                      <a:endParaRPr/>
                    </a:p>
                  </a:txBody>
                  <a:tcPr marT="42100" marB="42100" marR="84225" marL="842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Home Uni</a:t>
                      </a:r>
                      <a:endParaRPr/>
                    </a:p>
                  </a:txBody>
                  <a:tcPr marT="42100" marB="42100" marR="84225" marL="842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Skills</a:t>
                      </a:r>
                      <a:endParaRPr/>
                    </a:p>
                  </a:txBody>
                  <a:tcPr marT="42100" marB="42100" marR="84225" marL="842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Recent Interests</a:t>
                      </a:r>
                      <a:endParaRPr/>
                    </a:p>
                  </a:txBody>
                  <a:tcPr marT="42100" marB="42100" marR="84225" marL="842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Roles</a:t>
                      </a:r>
                      <a:endParaRPr/>
                    </a:p>
                  </a:txBody>
                  <a:tcPr marT="42100" marB="42100" marR="84225" marL="84225" anchor="ctr"/>
                </a:tc>
              </a:tr>
              <a:tr h="1263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Wenhui Jin</a:t>
                      </a:r>
                      <a:endParaRPr/>
                    </a:p>
                  </a:txBody>
                  <a:tcPr marT="42100" marB="42100" marR="84225" marL="842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TEMEP</a:t>
                      </a:r>
                      <a:endParaRPr/>
                    </a:p>
                  </a:txBody>
                  <a:tcPr marT="42100" marB="42100" marR="84225" marL="842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Seoul National University</a:t>
                      </a:r>
                      <a:endParaRPr/>
                    </a:p>
                  </a:txBody>
                  <a:tcPr marT="42100" marB="42100" marR="84225" marL="842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Python, SQL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Korean, Mandarin, Japanese, English</a:t>
                      </a:r>
                      <a:endParaRPr sz="1300" u="none" cap="none" strike="noStrike"/>
                    </a:p>
                  </a:txBody>
                  <a:tcPr marT="42100" marB="42100" marR="84225" marL="842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AI impact on occupation and human skill, NLP</a:t>
                      </a:r>
                      <a:endParaRPr/>
                    </a:p>
                  </a:txBody>
                  <a:tcPr marT="42100" marB="42100" marR="84225" marL="842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Team coordination, prompt improvement</a:t>
                      </a:r>
                      <a:endParaRPr/>
                    </a:p>
                  </a:txBody>
                  <a:tcPr marT="42100" marB="42100" marR="84225" marL="84225" anchor="ctr"/>
                </a:tc>
              </a:tr>
              <a:tr h="1263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Ruibo Duan</a:t>
                      </a:r>
                      <a:endParaRPr/>
                    </a:p>
                  </a:txBody>
                  <a:tcPr marT="42100" marB="42100" marR="84225" marL="842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Ph.D. in Computer Science</a:t>
                      </a:r>
                      <a:endParaRPr/>
                    </a:p>
                  </a:txBody>
                  <a:tcPr marT="42100" marB="42100" marR="84225" marL="842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Seoul National University</a:t>
                      </a:r>
                      <a:endParaRPr/>
                    </a:p>
                  </a:txBody>
                  <a:tcPr marT="42100" marB="42100" marR="84225" marL="842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Python, algorithm design, optimization, machine learning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Korean, Mandarin, English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/>
                    </a:p>
                  </a:txBody>
                  <a:tcPr marT="42100" marB="42100" marR="84225" marL="842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Optimization, LLM</a:t>
                      </a:r>
                      <a:endParaRPr/>
                    </a:p>
                  </a:txBody>
                  <a:tcPr marT="42100" marB="42100" marR="84225" marL="842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prompt improvement</a:t>
                      </a:r>
                      <a:endParaRPr sz="1300" u="none" cap="none" strike="noStrike"/>
                    </a:p>
                  </a:txBody>
                  <a:tcPr marT="42100" marB="42100" marR="84225" marL="84225" anchor="ctr"/>
                </a:tc>
              </a:tr>
              <a:tr h="1066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Donghyun Ken Kim</a:t>
                      </a:r>
                      <a:endParaRPr/>
                    </a:p>
                  </a:txBody>
                  <a:tcPr marT="42100" marB="42100" marR="84225" marL="842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TEMEP</a:t>
                      </a:r>
                      <a:endParaRPr/>
                    </a:p>
                  </a:txBody>
                  <a:tcPr marT="42100" marB="42100" marR="84225" marL="842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Seoul National University</a:t>
                      </a:r>
                      <a:endParaRPr/>
                    </a:p>
                  </a:txBody>
                  <a:tcPr marT="42100" marB="42100" marR="84225" marL="842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Python, SQL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English (Native), Korean (Highly Proficient)</a:t>
                      </a:r>
                      <a:endParaRPr sz="1300" u="none" cap="none" strike="noStrike"/>
                    </a:p>
                  </a:txBody>
                  <a:tcPr marT="42100" marB="42100" marR="84225" marL="842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XAI, ML/DL, Automation with AI, OpenClaw</a:t>
                      </a:r>
                      <a:endParaRPr sz="1300" u="none" cap="none" strike="noStrike"/>
                    </a:p>
                  </a:txBody>
                  <a:tcPr marT="42100" marB="42100" marR="84225" marL="842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prompt improvement, presentation</a:t>
                      </a:r>
                      <a:endParaRPr sz="1300" u="none" cap="none" strike="noStrike"/>
                    </a:p>
                  </a:txBody>
                  <a:tcPr marT="42100" marB="42100" marR="84225" marL="84225" anchor="ctr"/>
                </a:tc>
              </a:tr>
              <a:tr h="673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Jia Song</a:t>
                      </a:r>
                      <a:endParaRPr/>
                    </a:p>
                  </a:txBody>
                  <a:tcPr marT="42100" marB="42100" marR="84225" marL="842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Computer Science</a:t>
                      </a:r>
                      <a:endParaRPr/>
                    </a:p>
                  </a:txBody>
                  <a:tcPr marT="42100" marB="42100" marR="84225" marL="842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Université de Montréal (exchange)</a:t>
                      </a:r>
                      <a:endParaRPr/>
                    </a:p>
                  </a:txBody>
                  <a:tcPr marT="42100" marB="42100" marR="84225" marL="842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Python, n8n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English, French, Chinese</a:t>
                      </a:r>
                      <a:endParaRPr/>
                    </a:p>
                  </a:txBody>
                  <a:tcPr marT="42100" marB="42100" marR="84225" marL="842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LLM, NLP, data science</a:t>
                      </a:r>
                      <a:endParaRPr/>
                    </a:p>
                  </a:txBody>
                  <a:tcPr marT="42100" marB="42100" marR="84225" marL="842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cap="none" strike="noStrike"/>
                        <a:t>prompt improvement</a:t>
                      </a:r>
                      <a:endParaRPr sz="1300" u="none" cap="none" strike="noStrike"/>
                    </a:p>
                  </a:txBody>
                  <a:tcPr marT="42100" marB="42100" marR="84225" marL="842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0"/>
          <p:cNvSpPr txBox="1"/>
          <p:nvPr>
            <p:ph idx="12" type="sldNum"/>
          </p:nvPr>
        </p:nvSpPr>
        <p:spPr>
          <a:xfrm>
            <a:off x="905827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50"/>
          <p:cNvSpPr txBox="1"/>
          <p:nvPr/>
        </p:nvSpPr>
        <p:spPr>
          <a:xfrm>
            <a:off x="314893" y="1380452"/>
            <a:ext cx="11486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What we try in the “student solver.py”: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 three-layer pipeline plus a fallback path: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44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44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0"/>
          <p:cNvSpPr txBox="1"/>
          <p:nvPr>
            <p:ph type="title"/>
          </p:nvPr>
        </p:nvSpPr>
        <p:spPr>
          <a:xfrm>
            <a:off x="390525" y="571856"/>
            <a:ext cx="10963275" cy="735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25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2. Status update - First Trial</a:t>
            </a:r>
            <a:endParaRPr/>
          </a:p>
        </p:txBody>
      </p:sp>
      <p:sp>
        <p:nvSpPr>
          <p:cNvPr id="176" name="Google Shape;176;p50"/>
          <p:cNvSpPr txBox="1"/>
          <p:nvPr/>
        </p:nvSpPr>
        <p:spPr>
          <a:xfrm>
            <a:off x="2530543" y="6356344"/>
            <a:ext cx="785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Notion: </a:t>
            </a:r>
            <a:r>
              <a:rPr b="0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First Trial Details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Github: </a:t>
            </a:r>
            <a:r>
              <a:rPr b="0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https://github.com/KenCanCodeKinda/SNU-DataSciencePromptEngineering-FinalProject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7" name="Google Shape;177;p50"/>
          <p:cNvGraphicFramePr/>
          <p:nvPr/>
        </p:nvGraphicFramePr>
        <p:xfrm>
          <a:off x="7703101" y="16265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{780A7B2B-E541-4CD2-8C65-5857B2E8579F}</a:tableStyleId>
              </a:tblPr>
              <a:tblGrid>
                <a:gridCol w="1366125"/>
                <a:gridCol w="1366125"/>
                <a:gridCol w="1366125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Metric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Score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Weight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Feasibility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0.849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40%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Preference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0.850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30%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Adaptation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0.901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20%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Efficiency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0.420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10%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Student total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0.8170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Cost / run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$0.071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78" name="Google Shape;178;p50"/>
          <p:cNvSpPr/>
          <p:nvPr/>
        </p:nvSpPr>
        <p:spPr>
          <a:xfrm>
            <a:off x="7703133" y="4081650"/>
            <a:ext cx="40983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numbers (verify_v1, current best)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Variance band across 3 runs: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±0.02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Ceiling: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~0.80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79" name="Google Shape;179;p50"/>
          <p:cNvSpPr txBox="1"/>
          <p:nvPr/>
        </p:nvSpPr>
        <p:spPr>
          <a:xfrm>
            <a:off x="390525" y="2131250"/>
            <a:ext cx="69318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Prompt layer</a:t>
            </a:r>
            <a:r>
              <a:rPr lang="en-US" sz="1100">
                <a:solidFill>
                  <a:schemeClr val="dk1"/>
                </a:solidFill>
              </a:rPr>
              <a:t> —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STUDENT_PLANNER_INSTRUCTIONS</a:t>
            </a:r>
            <a:r>
              <a:rPr lang="en-US" sz="1100">
                <a:solidFill>
                  <a:schemeClr val="dk1"/>
                </a:solidFill>
              </a:rPr>
              <a:t>: 6 numbered rules + faithfulness clause +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MEMORY_REPORT_GUIDANCE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Planner layer</a:t>
            </a:r>
            <a:r>
              <a:rPr lang="en-US" sz="1100">
                <a:solidFill>
                  <a:schemeClr val="dk1"/>
                </a:solidFill>
              </a:rPr>
              <a:t> —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_run_planner</a:t>
            </a:r>
            <a:r>
              <a:rPr lang="en-US" sz="1100">
                <a:solidFill>
                  <a:schemeClr val="dk1"/>
                </a:solidFill>
              </a:rPr>
              <a:t>: low-reasoning gpt-5.4-nano, 14 tool rounds, strict JSON schema,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single_memory</a:t>
            </a:r>
            <a:r>
              <a:rPr lang="en-US" sz="1100">
                <a:solidFill>
                  <a:schemeClr val="dk1"/>
                </a:solidFill>
              </a:rPr>
              <a:t> role.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Post-processing layer</a:t>
            </a:r>
            <a:r>
              <a:rPr lang="en-US" sz="1100">
                <a:solidFill>
                  <a:schemeClr val="dk1"/>
                </a:solidFill>
              </a:rPr>
              <a:t> —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_build_final</a:t>
            </a:r>
            <a:r>
              <a:rPr lang="en-US" sz="1100">
                <a:solidFill>
                  <a:schemeClr val="dk1"/>
                </a:solidFill>
              </a:rPr>
              <a:t>: five deterministic enrichments (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derive_retired_from_state</a:t>
            </a:r>
            <a:r>
              <a:rPr lang="en-US" sz="1100">
                <a:solidFill>
                  <a:schemeClr val="dk1"/>
                </a:solidFill>
              </a:rPr>
              <a:t>,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all_stale_docs</a:t>
            </a:r>
            <a:r>
              <a:rPr lang="en-US" sz="1100">
                <a:solidFill>
                  <a:schemeClr val="dk1"/>
                </a:solidFill>
              </a:rPr>
              <a:t>,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derive_spoken_rule_hits_from_state</a:t>
            </a:r>
            <a:r>
              <a:rPr lang="en-US" sz="1100">
                <a:solidFill>
                  <a:schemeClr val="dk1"/>
                </a:solidFill>
              </a:rPr>
              <a:t>,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derive_required_docs_from_state</a:t>
            </a:r>
            <a:r>
              <a:rPr lang="en-US" sz="1100">
                <a:solidFill>
                  <a:schemeClr val="dk1"/>
                </a:solidFill>
              </a:rPr>
              <a:t>,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derive_rejected_from_state</a:t>
            </a:r>
            <a:r>
              <a:rPr lang="en-US" sz="1100">
                <a:solidFill>
                  <a:schemeClr val="dk1"/>
                </a:solidFill>
              </a:rPr>
              <a:t>) inject state-grounded facts into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memory_report</a:t>
            </a:r>
            <a:r>
              <a:rPr lang="en-US" sz="1100">
                <a:solidFill>
                  <a:schemeClr val="dk1"/>
                </a:solidFill>
              </a:rPr>
              <a:t> to align with evaluator scoring.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Fallback</a:t>
            </a:r>
            <a:r>
              <a:rPr lang="en-US" sz="1100">
                <a:solidFill>
                  <a:schemeClr val="dk1"/>
                </a:solidFill>
              </a:rPr>
              <a:t> —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_fallback_result</a:t>
            </a:r>
            <a:r>
              <a:rPr lang="en-US" sz="1100">
                <a:solidFill>
                  <a:schemeClr val="dk1"/>
                </a:solidFill>
              </a:rPr>
              <a:t>: on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RuntimeError</a:t>
            </a:r>
            <a:r>
              <a:rPr lang="en-US" sz="1100">
                <a:solidFill>
                  <a:schemeClr val="dk1"/>
                </a:solidFill>
              </a:rPr>
              <a:t>, returns a minimal submission that still passes through Layer 3, preserving memory-metric credit.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1"/>
          <p:cNvSpPr txBox="1"/>
          <p:nvPr>
            <p:ph type="title"/>
          </p:nvPr>
        </p:nvSpPr>
        <p:spPr>
          <a:xfrm>
            <a:off x="390525" y="571856"/>
            <a:ext cx="10963275" cy="735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0F70"/>
              </a:buClr>
              <a:buSzPts val="3200"/>
              <a:buFont typeface="Calibri"/>
              <a:buNone/>
            </a:pPr>
            <a:r>
              <a:rPr lang="en-US"/>
              <a:t>Problems</a:t>
            </a:r>
            <a:endParaRPr/>
          </a:p>
        </p:txBody>
      </p:sp>
      <p:sp>
        <p:nvSpPr>
          <p:cNvPr id="185" name="Google Shape;185;p51"/>
          <p:cNvSpPr txBox="1"/>
          <p:nvPr/>
        </p:nvSpPr>
        <p:spPr>
          <a:xfrm>
            <a:off x="390524" y="1438557"/>
            <a:ext cx="109632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0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for TA</a:t>
            </a:r>
            <a:endParaRPr/>
          </a:p>
          <a:p>
            <a:pPr indent="-342900" lvl="0" marL="44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What kind of materials should we submit for the final project? (Github link+any documents?)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44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44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0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 for Professor</a:t>
            </a:r>
            <a:endParaRPr/>
          </a:p>
          <a:p>
            <a:pPr indent="-342900" lvl="0" marL="44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ask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anything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444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2"/>
          <p:cNvSpPr txBox="1"/>
          <p:nvPr>
            <p:ph idx="12" type="sldNum"/>
          </p:nvPr>
        </p:nvSpPr>
        <p:spPr>
          <a:xfrm>
            <a:off x="9058275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52"/>
          <p:cNvSpPr txBox="1"/>
          <p:nvPr>
            <p:ph type="title"/>
          </p:nvPr>
        </p:nvSpPr>
        <p:spPr>
          <a:xfrm>
            <a:off x="390525" y="571856"/>
            <a:ext cx="10963275" cy="735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25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Next step</a:t>
            </a:r>
            <a:endParaRPr/>
          </a:p>
        </p:txBody>
      </p:sp>
      <p:sp>
        <p:nvSpPr>
          <p:cNvPr id="192" name="Google Shape;192;p52"/>
          <p:cNvSpPr txBox="1"/>
          <p:nvPr/>
        </p:nvSpPr>
        <p:spPr>
          <a:xfrm>
            <a:off x="390525" y="1479778"/>
            <a:ext cx="11184441" cy="2246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Improvement on the efficiency by updating the prompt</a:t>
            </a:r>
            <a:endParaRPr/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the xxxxxxxxxxxxx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comments will be highly appreciated!</a:t>
            </a:r>
            <a:endParaRPr/>
          </a:p>
        </p:txBody>
      </p:sp>
      <p:pic>
        <p:nvPicPr>
          <p:cNvPr id="193" name="Google Shape;19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7526" y="2148358"/>
            <a:ext cx="4507093" cy="3578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3"/>
          <p:cNvSpPr txBox="1"/>
          <p:nvPr>
            <p:ph type="title"/>
          </p:nvPr>
        </p:nvSpPr>
        <p:spPr>
          <a:xfrm>
            <a:off x="390525" y="571856"/>
            <a:ext cx="10963275" cy="735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0F70"/>
              </a:buClr>
              <a:buSzPts val="3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9" name="Google Shape;199;p53"/>
          <p:cNvSpPr txBox="1"/>
          <p:nvPr/>
        </p:nvSpPr>
        <p:spPr>
          <a:xfrm>
            <a:off x="3048000" y="2630529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0F70"/>
              </a:buClr>
              <a:buSzPts val="3200"/>
              <a:buFont typeface="Calibri"/>
              <a:buNone/>
            </a:pPr>
            <a:r>
              <a:rPr b="0" i="0" lang="en-US" sz="9600" u="none" cap="none" strike="noStrike">
                <a:solidFill>
                  <a:srgbClr val="0F0F70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0" i="0" sz="9600" u="none" cap="none" strike="noStrike">
              <a:solidFill>
                <a:srgbClr val="0F0F7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2022-09-26T03:58:45Z</dcterms:created>
  <dc:creator>Hanbin Kim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0x010100FC2D7192C9AB064E9D44AAE275BFE375</vt:lpwstr>
  </property>
</Properties>
</file>